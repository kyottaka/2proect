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870F5F5-2503-43E4-90EE-B886603733C6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8B88368-FA96-4149-8C84-EFA817D4B99C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D301058-0A40-4242-91CB-ABFA64795774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45F9686-378E-486D-B35E-435883DC184E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4C1BF90-A504-4825-B820-03475C201AE8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F6E54AE-7885-4333-894C-4083F08F855F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A83C78E-9F53-44B0-BA22-D32B640E2B6E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24FB1B5-FBFB-4E19-847B-B730962ED4C4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33038F2-89DB-4AEC-9F07-F82962DD4B8E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EE5F402-97E6-4CD7-8AA4-CE7F04C027A7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2"/>
          <p:cNvSpPr/>
          <p:nvPr/>
        </p:nvSpPr>
        <p:spPr>
          <a:xfrm>
            <a:off x="8823960" y="45720"/>
            <a:ext cx="2559960" cy="2559960"/>
          </a:xfrm>
          <a:prstGeom prst="arc">
            <a:avLst>
              <a:gd name="adj1" fmla="val 16200000"/>
              <a:gd name="adj2" fmla="val 0"/>
            </a:avLst>
          </a:prstGeom>
          <a:noFill/>
          <a:ln w="25400">
            <a:solidFill>
              <a:srgbClr val="ff4d57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4"/>
          <p:cNvSpPr/>
          <p:nvPr/>
        </p:nvSpPr>
        <p:spPr>
          <a:xfrm>
            <a:off x="658440" y="1051560"/>
            <a:ext cx="89607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3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Криптошифр</a:t>
            </a:r>
            <a:endParaRPr b="0" lang="ru-RU" sz="4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20000" y="2520000"/>
            <a:ext cx="1142640" cy="310680"/>
          </a:xfrm>
          <a:prstGeom prst="rect">
            <a:avLst/>
          </a:prstGeom>
          <a:solidFill>
            <a:srgbClr val="ff4d57"/>
          </a:solidFill>
          <a:ln w="0">
            <a:solidFill>
              <a:srgbClr val="ff4d57"/>
            </a:solidFill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Цезарь</a:t>
            </a:r>
            <a:endParaRPr b="0" lang="ru-RU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980000" y="2520000"/>
            <a:ext cx="959760" cy="310680"/>
          </a:xfrm>
          <a:prstGeom prst="rect">
            <a:avLst/>
          </a:prstGeom>
          <a:solidFill>
            <a:srgbClr val="b28cff"/>
          </a:solidFill>
          <a:ln w="0">
            <a:solidFill>
              <a:srgbClr val="b28cff"/>
            </a:solidFill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XOR</a:t>
            </a:r>
            <a:endParaRPr b="0" lang="ru-RU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8"/>
          <p:cNvSpPr/>
          <p:nvPr/>
        </p:nvSpPr>
        <p:spPr>
          <a:xfrm>
            <a:off x="3060000" y="2520000"/>
            <a:ext cx="1508400" cy="310680"/>
          </a:xfrm>
          <a:prstGeom prst="rect">
            <a:avLst/>
          </a:prstGeom>
          <a:solidFill>
            <a:srgbClr val="3498db"/>
          </a:solidFill>
          <a:ln w="0">
            <a:solidFill>
              <a:srgbClr val="3498db"/>
            </a:solidFill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Baby‑RSA</a:t>
            </a:r>
            <a:endParaRPr b="0" lang="ru-RU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794640" y="3463200"/>
            <a:ext cx="4030920" cy="2006640"/>
          </a:xfrm>
          <a:prstGeom prst="roundRect">
            <a:avLst>
              <a:gd name="adj" fmla="val 8889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94360" y="6647760"/>
            <a:ext cx="1096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e95a3"/>
                </a:solidFill>
                <a:effectLst/>
                <a:uFillTx/>
                <a:latin typeface="Arial"/>
              </a:rPr>
              <a:t>Слайд 1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5"/>
          <p:cNvSpPr/>
          <p:nvPr/>
        </p:nvSpPr>
        <p:spPr>
          <a:xfrm>
            <a:off x="7052040" y="362088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b8c9da"/>
                </a:solidFill>
                <a:effectLst/>
                <a:uFillTx/>
                <a:latin typeface="Arial"/>
              </a:rPr>
              <a:t>Выполнили: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6"/>
          <p:cNvSpPr/>
          <p:nvPr/>
        </p:nvSpPr>
        <p:spPr>
          <a:xfrm>
            <a:off x="7052040" y="3986640"/>
            <a:ext cx="2605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f8ff"/>
                </a:solidFill>
                <a:effectLst/>
                <a:uFillTx/>
                <a:latin typeface="Arial"/>
              </a:rPr>
              <a:t>Артименко Артём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f8ff"/>
                </a:solidFill>
                <a:effectLst/>
                <a:uFillTx/>
                <a:latin typeface="Arial"/>
              </a:rPr>
              <a:t>Акбар Ислам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f8ff"/>
                </a:solidFill>
                <a:effectLst/>
                <a:uFillTx/>
                <a:latin typeface="Arial"/>
              </a:rPr>
              <a:t>Косарев Антон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7052040" y="492876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8c9da"/>
                </a:solidFill>
                <a:effectLst/>
                <a:uFillTx/>
                <a:latin typeface="Arial"/>
              </a:rPr>
              <a:t>Направление: Программная инженерия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8c9da"/>
                </a:solidFill>
                <a:effectLst/>
                <a:uFillTx/>
                <a:latin typeface="Arial"/>
              </a:rPr>
              <a:t>Преподаватель: Горбачева Зоя Евгеньевна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3"/>
          <p:cNvSpPr/>
          <p:nvPr/>
        </p:nvSpPr>
        <p:spPr>
          <a:xfrm>
            <a:off x="594360" y="621720"/>
            <a:ext cx="10789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9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Цели и задачи</a:t>
            </a:r>
            <a:endParaRPr b="0" lang="ru-RU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594360" y="1298160"/>
            <a:ext cx="10972800" cy="360"/>
          </a:xfrm>
          <a:prstGeom prst="line">
            <a:avLst/>
          </a:prstGeom>
          <a:ln w="15240">
            <a:solidFill>
              <a:srgbClr val="343a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594360" y="6647760"/>
            <a:ext cx="1096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e95a3"/>
                </a:solidFill>
                <a:effectLst/>
                <a:uFillTx/>
                <a:latin typeface="Arial"/>
              </a:rPr>
              <a:t>Слайд </a:t>
            </a:r>
            <a:r>
              <a:rPr b="0" lang="ru-RU" sz="800" strike="noStrike" u="none">
                <a:solidFill>
                  <a:srgbClr val="8e95a3"/>
                </a:solidFill>
                <a:effectLst/>
                <a:uFillTx/>
                <a:latin typeface="Arial"/>
              </a:rPr>
              <a:t>2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594360" y="1874520"/>
            <a:ext cx="11023560" cy="2554560"/>
          </a:xfrm>
          <a:prstGeom prst="roundRect">
            <a:avLst>
              <a:gd name="adj" fmla="val 3380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594360" y="1874520"/>
            <a:ext cx="100080" cy="255456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830880" y="1980000"/>
            <a:ext cx="10278720" cy="23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Целью проекта является разработка функционального приложения веб интерфейса для шифрования значений пользователей и помощи студентам курса «Криптография» с задачами шифрования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151922"/>
          </a:solidFill>
          <a:ln w="12700">
            <a:solidFill>
              <a:srgbClr val="151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594360" y="621720"/>
            <a:ext cx="10789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9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Цели и задачи</a:t>
            </a:r>
            <a:endParaRPr b="0" lang="ru-RU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594360" y="1298160"/>
            <a:ext cx="10972800" cy="360"/>
          </a:xfrm>
          <a:prstGeom prst="line">
            <a:avLst/>
          </a:prstGeom>
          <a:ln w="15240">
            <a:solidFill>
              <a:srgbClr val="343a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594360" y="6647760"/>
            <a:ext cx="1096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e95a3"/>
                </a:solidFill>
                <a:effectLst/>
                <a:uFillTx/>
                <a:latin typeface="Arial"/>
              </a:rPr>
              <a:t>Слайд </a:t>
            </a:r>
            <a:r>
              <a:rPr b="0" lang="ru-RU" sz="800" strike="noStrike" u="none">
                <a:solidFill>
                  <a:srgbClr val="8e95a3"/>
                </a:solidFill>
                <a:effectLst/>
                <a:uFillTx/>
                <a:latin typeface="Arial"/>
              </a:rPr>
              <a:t>3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594360" y="1874520"/>
            <a:ext cx="11023560" cy="2554560"/>
          </a:xfrm>
          <a:prstGeom prst="roundRect">
            <a:avLst>
              <a:gd name="adj" fmla="val 3380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8"/>
          <p:cNvSpPr/>
          <p:nvPr/>
        </p:nvSpPr>
        <p:spPr>
          <a:xfrm>
            <a:off x="594360" y="1874520"/>
            <a:ext cx="100080" cy="255456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0"/>
          <p:cNvSpPr/>
          <p:nvPr/>
        </p:nvSpPr>
        <p:spPr>
          <a:xfrm>
            <a:off x="830880" y="1980000"/>
            <a:ext cx="10278720" cy="21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ru-RU" sz="2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Сформировать функционал приложения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ru-RU" sz="2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Спроектировать удобный интерфейс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ru-RU" sz="2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Разработка функционала 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ru-RU" sz="2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Протестировать приложение 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ru-RU" sz="2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Поделиться им на </a:t>
            </a:r>
            <a:r>
              <a:rPr b="0" lang="en-US" sz="2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open-source </a:t>
            </a:r>
            <a:r>
              <a:rPr b="0" lang="ru-RU" sz="2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площадке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151922"/>
          </a:solidFill>
          <a:ln w="12700">
            <a:solidFill>
              <a:srgbClr val="151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594360" y="621720"/>
            <a:ext cx="10789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9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Актуальность</a:t>
            </a:r>
            <a:endParaRPr b="0" lang="ru-RU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4"/>
          <p:cNvSpPr/>
          <p:nvPr/>
        </p:nvSpPr>
        <p:spPr>
          <a:xfrm>
            <a:off x="594360" y="1298160"/>
            <a:ext cx="10972800" cy="360"/>
          </a:xfrm>
          <a:prstGeom prst="line">
            <a:avLst/>
          </a:prstGeom>
          <a:ln w="15240">
            <a:solidFill>
              <a:srgbClr val="343a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594360" y="6647760"/>
            <a:ext cx="1096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e95a3"/>
                </a:solidFill>
                <a:effectLst/>
                <a:uFillTx/>
                <a:latin typeface="Arial"/>
              </a:rPr>
              <a:t>Слайд </a:t>
            </a:r>
            <a:r>
              <a:rPr b="0" lang="ru-RU" sz="800" strike="noStrike" u="none">
                <a:solidFill>
                  <a:srgbClr val="8e95a3"/>
                </a:solidFill>
                <a:effectLst/>
                <a:uFillTx/>
                <a:latin typeface="Arial"/>
              </a:rPr>
              <a:t>4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6"/>
          <p:cNvSpPr/>
          <p:nvPr/>
        </p:nvSpPr>
        <p:spPr>
          <a:xfrm>
            <a:off x="750240" y="1686240"/>
            <a:ext cx="10240920" cy="1971000"/>
          </a:xfrm>
          <a:prstGeom prst="roundRect">
            <a:avLst>
              <a:gd name="adj" fmla="val 13043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7"/>
          <p:cNvSpPr/>
          <p:nvPr/>
        </p:nvSpPr>
        <p:spPr>
          <a:xfrm>
            <a:off x="750240" y="1987920"/>
            <a:ext cx="9646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endParaRPr b="0" lang="en-US" sz="158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864360" y="1817280"/>
            <a:ext cx="9756000" cy="16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4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Приложение актуально для студентов, которые обучаются на дисциплине </a:t>
            </a:r>
            <a:r>
              <a:rPr b="1" lang="en-US" sz="24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“</a:t>
            </a:r>
            <a:r>
              <a:rPr b="1" lang="ru-RU" sz="24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Криптография</a:t>
            </a:r>
            <a:r>
              <a:rPr b="1" lang="en-US" sz="24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”</a:t>
            </a:r>
            <a:r>
              <a:rPr b="1" lang="ru-RU" sz="24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 и хотят облегчить свое обучение и понять смысл работы шифров.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151922"/>
          </a:solidFill>
          <a:ln w="12700">
            <a:solidFill>
              <a:srgbClr val="151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594360" y="621720"/>
            <a:ext cx="10789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Что проверялось</a:t>
            </a:r>
            <a:endParaRPr b="0" lang="ru-RU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4"/>
          <p:cNvSpPr/>
          <p:nvPr/>
        </p:nvSpPr>
        <p:spPr>
          <a:xfrm>
            <a:off x="594360" y="1298160"/>
            <a:ext cx="10972800" cy="360"/>
          </a:xfrm>
          <a:prstGeom prst="line">
            <a:avLst/>
          </a:prstGeom>
          <a:ln w="15240">
            <a:solidFill>
              <a:srgbClr val="343a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594360" y="6647760"/>
            <a:ext cx="1096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e95a3"/>
                </a:solidFill>
                <a:effectLst/>
                <a:uFillTx/>
                <a:latin typeface="Arial"/>
              </a:rPr>
              <a:t>Слайд 5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731520" y="1874520"/>
            <a:ext cx="3337200" cy="3245760"/>
          </a:xfrm>
          <a:prstGeom prst="roundRect">
            <a:avLst>
              <a:gd name="adj" fmla="val 3380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8"/>
          <p:cNvSpPr/>
          <p:nvPr/>
        </p:nvSpPr>
        <p:spPr>
          <a:xfrm>
            <a:off x="731520" y="1874520"/>
            <a:ext cx="100080" cy="3245760"/>
          </a:xfrm>
          <a:prstGeom prst="rect">
            <a:avLst/>
          </a:prstGeom>
          <a:solidFill>
            <a:srgbClr val="ff4d57"/>
          </a:solidFill>
          <a:ln w="12700">
            <a:solidFill>
              <a:srgbClr val="ff4d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1051560" y="221292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Шифр Цезаря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1051560" y="2761560"/>
            <a:ext cx="26056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b7bcc8"/>
                </a:solidFill>
                <a:effectLst/>
                <a:uFillTx/>
                <a:latin typeface="Arial"/>
              </a:rPr>
              <a:t>Шифрование и расшифровка русского текста по числовому ключу.</a:t>
            </a:r>
            <a:endParaRPr b="0" lang="ru-RU" sz="15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1051560" y="4133160"/>
            <a:ext cx="2697120" cy="529920"/>
          </a:xfrm>
          <a:prstGeom prst="rect">
            <a:avLst/>
          </a:prstGeom>
          <a:solidFill>
            <a:srgbClr val="171c26"/>
          </a:solidFill>
          <a:ln w="0">
            <a:solidFill>
              <a:srgbClr val="171c26"/>
            </a:solidFill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Критерий: результат появляется и совпадает с ожидаемой логикой.</a:t>
            </a:r>
            <a:endParaRPr b="0" lang="ru-RU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2"/>
          <p:cNvSpPr/>
          <p:nvPr/>
        </p:nvSpPr>
        <p:spPr>
          <a:xfrm>
            <a:off x="4526280" y="1874520"/>
            <a:ext cx="3337200" cy="3245760"/>
          </a:xfrm>
          <a:prstGeom prst="roundRect">
            <a:avLst>
              <a:gd name="adj" fmla="val 3380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3"/>
          <p:cNvSpPr/>
          <p:nvPr/>
        </p:nvSpPr>
        <p:spPr>
          <a:xfrm>
            <a:off x="4526280" y="1874520"/>
            <a:ext cx="100080" cy="3245760"/>
          </a:xfrm>
          <a:prstGeom prst="rect">
            <a:avLst/>
          </a:prstGeom>
          <a:solidFill>
            <a:srgbClr val="b28cff"/>
          </a:solidFill>
          <a:ln w="12700">
            <a:solidFill>
              <a:srgbClr val="b2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4846320" y="221292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XOR логика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5"/>
          <p:cNvSpPr/>
          <p:nvPr/>
        </p:nvSpPr>
        <p:spPr>
          <a:xfrm>
            <a:off x="4846320" y="2761560"/>
            <a:ext cx="26056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b7bcc8"/>
                </a:solidFill>
                <a:effectLst/>
                <a:uFillTx/>
                <a:latin typeface="Arial"/>
              </a:rPr>
              <a:t>Преобразование латинского текста словом‑ключом и вывод результата в битах.</a:t>
            </a:r>
            <a:endParaRPr b="0" lang="ru-RU" sz="15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4846320" y="4133160"/>
            <a:ext cx="2697120" cy="529920"/>
          </a:xfrm>
          <a:prstGeom prst="rect">
            <a:avLst/>
          </a:prstGeom>
          <a:solidFill>
            <a:srgbClr val="171c26"/>
          </a:solidFill>
          <a:ln w="0">
            <a:solidFill>
              <a:srgbClr val="171c26"/>
            </a:solidFill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Критерий: результат появляется и совпадает с ожидаемой логикой.</a:t>
            </a:r>
            <a:endParaRPr b="0" lang="ru-RU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7"/>
          <p:cNvSpPr/>
          <p:nvPr/>
        </p:nvSpPr>
        <p:spPr>
          <a:xfrm>
            <a:off x="8321040" y="1874520"/>
            <a:ext cx="3337200" cy="3245760"/>
          </a:xfrm>
          <a:prstGeom prst="roundRect">
            <a:avLst>
              <a:gd name="adj" fmla="val 3380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8"/>
          <p:cNvSpPr/>
          <p:nvPr/>
        </p:nvSpPr>
        <p:spPr>
          <a:xfrm>
            <a:off x="8321040" y="1874520"/>
            <a:ext cx="100080" cy="324576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9"/>
          <p:cNvSpPr/>
          <p:nvPr/>
        </p:nvSpPr>
        <p:spPr>
          <a:xfrm>
            <a:off x="8641080" y="221292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Baby‑RSA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0"/>
          <p:cNvSpPr/>
          <p:nvPr/>
        </p:nvSpPr>
        <p:spPr>
          <a:xfrm>
            <a:off x="8641080" y="2761560"/>
            <a:ext cx="26056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b7bcc8"/>
                </a:solidFill>
                <a:effectLst/>
                <a:uFillTx/>
                <a:latin typeface="Arial"/>
              </a:rPr>
              <a:t>Создание ключей, шифрование текста в числа и обратная дешифровка.</a:t>
            </a:r>
            <a:endParaRPr b="0" lang="ru-RU" sz="15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1"/>
          <p:cNvSpPr/>
          <p:nvPr/>
        </p:nvSpPr>
        <p:spPr>
          <a:xfrm>
            <a:off x="8641080" y="4133160"/>
            <a:ext cx="2697120" cy="529920"/>
          </a:xfrm>
          <a:prstGeom prst="rect">
            <a:avLst/>
          </a:prstGeom>
          <a:solidFill>
            <a:srgbClr val="171c26"/>
          </a:solidFill>
          <a:ln w="0">
            <a:solidFill>
              <a:srgbClr val="171c26"/>
            </a:solidFill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Критерий: результат появляется и совпадает с ожидаемой логикой.</a:t>
            </a:r>
            <a:endParaRPr b="0" lang="ru-RU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2"/>
          <p:cNvSpPr/>
          <p:nvPr/>
        </p:nvSpPr>
        <p:spPr>
          <a:xfrm>
            <a:off x="1051560" y="5687640"/>
            <a:ext cx="10058040" cy="529920"/>
          </a:xfrm>
          <a:prstGeom prst="roundRect">
            <a:avLst>
              <a:gd name="adj" fmla="val 20690"/>
            </a:avLst>
          </a:prstGeom>
          <a:solidFill>
            <a:srgbClr val="0f301f"/>
          </a:solidFill>
          <a:ln w="12700">
            <a:solidFill>
              <a:srgbClr val="0f301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3"/>
          <p:cNvSpPr/>
          <p:nvPr/>
        </p:nvSpPr>
        <p:spPr>
          <a:xfrm>
            <a:off x="1280160" y="5852160"/>
            <a:ext cx="9600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20" strike="noStrike" u="none">
                <a:solidFill>
                  <a:srgbClr val="c6f7d6"/>
                </a:solidFill>
                <a:effectLst/>
                <a:uFillTx/>
                <a:latin typeface="Arial"/>
              </a:rPr>
              <a:t>Главная проверка: если выполнить обратное преобразование, приложение должно вернуть исходный текст.</a:t>
            </a:r>
            <a:endParaRPr b="0" lang="ru-RU" sz="14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151922"/>
          </a:solidFill>
          <a:ln w="12700">
            <a:solidFill>
              <a:srgbClr val="151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594360" y="621720"/>
            <a:ext cx="10789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Тест 1: шифр Цезаря</a:t>
            </a:r>
            <a:endParaRPr b="0" lang="ru-RU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4"/>
          <p:cNvSpPr/>
          <p:nvPr/>
        </p:nvSpPr>
        <p:spPr>
          <a:xfrm>
            <a:off x="594360" y="1298160"/>
            <a:ext cx="10972800" cy="360"/>
          </a:xfrm>
          <a:prstGeom prst="line">
            <a:avLst/>
          </a:prstGeom>
          <a:ln w="15240">
            <a:solidFill>
              <a:srgbClr val="343a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594360" y="6647760"/>
            <a:ext cx="1096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e95a3"/>
                </a:solidFill>
                <a:effectLst/>
                <a:uFillTx/>
                <a:latin typeface="Arial"/>
              </a:rPr>
              <a:t>Слайд 6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658440" y="1627560"/>
            <a:ext cx="5257440" cy="4480200"/>
          </a:xfrm>
          <a:prstGeom prst="roundRect">
            <a:avLst>
              <a:gd name="adj" fmla="val 2449"/>
            </a:avLst>
          </a:prstGeom>
          <a:solidFill>
            <a:srgbClr val="0f141e"/>
          </a:solidFill>
          <a:ln w="12700">
            <a:solidFill>
              <a:srgbClr val="303744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914400" y="1856160"/>
            <a:ext cx="4745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Сервис быстрого шифрования</a:t>
            </a:r>
            <a:endParaRPr b="0" lang="ru-RU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914400" y="2286000"/>
            <a:ext cx="4745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b7bcc8"/>
                </a:solidFill>
                <a:effectLst/>
                <a:uFillTx/>
                <a:latin typeface="Arial"/>
              </a:rPr>
              <a:t>Используйте на свое усмотрение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0"/>
          <p:cNvSpPr/>
          <p:nvPr/>
        </p:nvSpPr>
        <p:spPr>
          <a:xfrm>
            <a:off x="914400" y="272484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4d57"/>
                </a:solidFill>
                <a:effectLst/>
                <a:uFillTx/>
                <a:latin typeface="Arial"/>
              </a:rPr>
              <a:t>Цезарь</a:t>
            </a:r>
            <a:endParaRPr b="0" lang="ru-RU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1"/>
          <p:cNvSpPr/>
          <p:nvPr/>
        </p:nvSpPr>
        <p:spPr>
          <a:xfrm>
            <a:off x="914400" y="3072240"/>
            <a:ext cx="960120" cy="360"/>
          </a:xfrm>
          <a:prstGeom prst="line">
            <a:avLst/>
          </a:prstGeom>
          <a:ln w="26670">
            <a:solidFill>
              <a:srgbClr val="ff4d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2"/>
          <p:cNvSpPr/>
          <p:nvPr/>
        </p:nvSpPr>
        <p:spPr>
          <a:xfrm>
            <a:off x="2331720" y="272484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XOR Логика</a:t>
            </a:r>
            <a:endParaRPr b="0" lang="ru-RU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3"/>
          <p:cNvSpPr/>
          <p:nvPr/>
        </p:nvSpPr>
        <p:spPr>
          <a:xfrm>
            <a:off x="3749040" y="2724840"/>
            <a:ext cx="1096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Baby‑RSA</a:t>
            </a:r>
            <a:endParaRPr b="0" lang="ru-RU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4"/>
          <p:cNvSpPr/>
          <p:nvPr/>
        </p:nvSpPr>
        <p:spPr>
          <a:xfrm>
            <a:off x="914400" y="3136320"/>
            <a:ext cx="4206240" cy="360"/>
          </a:xfrm>
          <a:prstGeom prst="line">
            <a:avLst/>
          </a:prstGeom>
          <a:ln w="13970">
            <a:solidFill>
              <a:srgbClr val="343a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5"/>
          <p:cNvSpPr/>
          <p:nvPr/>
        </p:nvSpPr>
        <p:spPr>
          <a:xfrm>
            <a:off x="914400" y="3255120"/>
            <a:ext cx="4745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Шифр Цезаря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6"/>
          <p:cNvSpPr/>
          <p:nvPr/>
        </p:nvSpPr>
        <p:spPr>
          <a:xfrm>
            <a:off x="960120" y="3721680"/>
            <a:ext cx="2102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trike="noStrike" u="none">
                <a:solidFill>
                  <a:srgbClr val="b7bcc8"/>
                </a:solidFill>
                <a:effectLst/>
                <a:uFillTx/>
                <a:latin typeface="Arial"/>
              </a:rPr>
              <a:t>Режим: зашифровать</a:t>
            </a:r>
            <a:endParaRPr b="0" lang="ru-RU" sz="10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7"/>
          <p:cNvSpPr/>
          <p:nvPr/>
        </p:nvSpPr>
        <p:spPr>
          <a:xfrm>
            <a:off x="960120" y="4005000"/>
            <a:ext cx="2514240" cy="420120"/>
          </a:xfrm>
          <a:prstGeom prst="rect">
            <a:avLst/>
          </a:prstGeom>
          <a:solidFill>
            <a:srgbClr val="292a34"/>
          </a:solidFill>
          <a:ln w="0">
            <a:solidFill>
              <a:srgbClr val="292a34"/>
            </a:solidFill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бурмулда</a:t>
            </a:r>
            <a:endParaRPr b="0" lang="ru-RU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8"/>
          <p:cNvSpPr/>
          <p:nvPr/>
        </p:nvSpPr>
        <p:spPr>
          <a:xfrm>
            <a:off x="3657600" y="408744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Сдвиг: 3</a:t>
            </a:r>
            <a:endParaRPr b="0" lang="ru-RU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9"/>
          <p:cNvSpPr/>
          <p:nvPr/>
        </p:nvSpPr>
        <p:spPr>
          <a:xfrm>
            <a:off x="960120" y="4617720"/>
            <a:ext cx="2514240" cy="383760"/>
          </a:xfrm>
          <a:prstGeom prst="rect">
            <a:avLst/>
          </a:prstGeom>
          <a:solidFill>
            <a:srgbClr val="24d6f2"/>
          </a:solidFill>
          <a:ln w="15240">
            <a:solidFill>
              <a:srgbClr val="ff4d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Выполнить преобразование</a:t>
            </a:r>
            <a:endParaRPr b="0" lang="ru-RU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0"/>
          <p:cNvSpPr/>
          <p:nvPr/>
        </p:nvSpPr>
        <p:spPr>
          <a:xfrm>
            <a:off x="960120" y="5285160"/>
            <a:ext cx="4525920" cy="456840"/>
          </a:xfrm>
          <a:prstGeom prst="rect">
            <a:avLst/>
          </a:prstGeom>
          <a:solidFill>
            <a:srgbClr val="171c26"/>
          </a:solidFill>
          <a:ln w="0">
            <a:solidFill>
              <a:srgbClr val="171c26"/>
            </a:solidFill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Результат: дцупцоэг</a:t>
            </a:r>
            <a:endParaRPr b="0" lang="ru-RU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1"/>
          <p:cNvSpPr/>
          <p:nvPr/>
        </p:nvSpPr>
        <p:spPr>
          <a:xfrm>
            <a:off x="6309360" y="1627560"/>
            <a:ext cx="5166000" cy="4480200"/>
          </a:xfrm>
          <a:prstGeom prst="roundRect">
            <a:avLst>
              <a:gd name="adj" fmla="val 2449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2"/>
          <p:cNvSpPr/>
          <p:nvPr/>
        </p:nvSpPr>
        <p:spPr>
          <a:xfrm>
            <a:off x="6583680" y="1938600"/>
            <a:ext cx="4388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Действия и результат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3"/>
          <p:cNvSpPr/>
          <p:nvPr/>
        </p:nvSpPr>
        <p:spPr>
          <a:xfrm>
            <a:off x="6583680" y="2688480"/>
            <a:ext cx="100080" cy="100080"/>
          </a:xfrm>
          <a:prstGeom prst="ellipse">
            <a:avLst/>
          </a:prstGeom>
          <a:solidFill>
            <a:srgbClr val="ff4d57"/>
          </a:solidFill>
          <a:ln w="12700">
            <a:solidFill>
              <a:srgbClr val="ff4d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4"/>
          <p:cNvSpPr/>
          <p:nvPr/>
        </p:nvSpPr>
        <p:spPr>
          <a:xfrm>
            <a:off x="6784920" y="2578680"/>
            <a:ext cx="4388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Открыта вкладка «Цезарь».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5"/>
          <p:cNvSpPr/>
          <p:nvPr/>
        </p:nvSpPr>
        <p:spPr>
          <a:xfrm>
            <a:off x="6583680" y="3173040"/>
            <a:ext cx="100080" cy="100080"/>
          </a:xfrm>
          <a:prstGeom prst="ellipse">
            <a:avLst/>
          </a:prstGeom>
          <a:solidFill>
            <a:srgbClr val="ff4d57"/>
          </a:solidFill>
          <a:ln w="12700">
            <a:solidFill>
              <a:srgbClr val="ff4d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6"/>
          <p:cNvSpPr/>
          <p:nvPr/>
        </p:nvSpPr>
        <p:spPr>
          <a:xfrm>
            <a:off x="6784920" y="3063240"/>
            <a:ext cx="4388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Введен текст «бурмулда» и ключ 3.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7"/>
          <p:cNvSpPr/>
          <p:nvPr/>
        </p:nvSpPr>
        <p:spPr>
          <a:xfrm>
            <a:off x="6583680" y="3657600"/>
            <a:ext cx="100080" cy="100080"/>
          </a:xfrm>
          <a:prstGeom prst="ellipse">
            <a:avLst/>
          </a:prstGeom>
          <a:solidFill>
            <a:srgbClr val="24d6f2"/>
          </a:solidFill>
          <a:ln w="12700">
            <a:solidFill>
              <a:srgbClr val="24d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8"/>
          <p:cNvSpPr/>
          <p:nvPr/>
        </p:nvSpPr>
        <p:spPr>
          <a:xfrm>
            <a:off x="6784920" y="3547800"/>
            <a:ext cx="4388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После запуска получен зашифрованный текст «дцупцоэг».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9"/>
          <p:cNvSpPr/>
          <p:nvPr/>
        </p:nvSpPr>
        <p:spPr>
          <a:xfrm>
            <a:off x="6583680" y="4142160"/>
            <a:ext cx="100080" cy="1000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0"/>
          <p:cNvSpPr/>
          <p:nvPr/>
        </p:nvSpPr>
        <p:spPr>
          <a:xfrm>
            <a:off x="6784920" y="4032360"/>
            <a:ext cx="4388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При режиме «Расшифровать» этот текст возвращается в исходный.</a:t>
            </a:r>
            <a:endParaRPr b="0" lang="ru-RU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1"/>
          <p:cNvSpPr/>
          <p:nvPr/>
        </p:nvSpPr>
        <p:spPr>
          <a:xfrm>
            <a:off x="6583680" y="5047560"/>
            <a:ext cx="4388760" cy="511560"/>
          </a:xfrm>
          <a:prstGeom prst="rect">
            <a:avLst/>
          </a:prstGeom>
          <a:solidFill>
            <a:srgbClr val="0f301f"/>
          </a:solidFill>
          <a:ln w="0">
            <a:solidFill>
              <a:srgbClr val="0f301f"/>
            </a:solidFill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c6f7d6"/>
                </a:solidFill>
                <a:effectLst/>
                <a:uFillTx/>
                <a:latin typeface="Arial"/>
              </a:rPr>
              <a:t>Вывод: шифрование и обратное преобразование работают корректно.</a:t>
            </a:r>
            <a:endParaRPr b="0" lang="ru-RU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151922"/>
          </a:solidFill>
          <a:ln w="12700">
            <a:solidFill>
              <a:srgbClr val="151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"/>
          <p:cNvSpPr/>
          <p:nvPr/>
        </p:nvSpPr>
        <p:spPr>
          <a:xfrm>
            <a:off x="594360" y="621720"/>
            <a:ext cx="10789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Тест 2: XOR логика</a:t>
            </a:r>
            <a:endParaRPr b="0" lang="ru-RU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4"/>
          <p:cNvSpPr/>
          <p:nvPr/>
        </p:nvSpPr>
        <p:spPr>
          <a:xfrm>
            <a:off x="594360" y="1298160"/>
            <a:ext cx="10972800" cy="360"/>
          </a:xfrm>
          <a:prstGeom prst="line">
            <a:avLst/>
          </a:prstGeom>
          <a:ln w="15240">
            <a:solidFill>
              <a:srgbClr val="343a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5"/>
          <p:cNvSpPr/>
          <p:nvPr/>
        </p:nvSpPr>
        <p:spPr>
          <a:xfrm>
            <a:off x="594360" y="6647760"/>
            <a:ext cx="1096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e95a3"/>
                </a:solidFill>
                <a:effectLst/>
                <a:uFillTx/>
                <a:latin typeface="Arial"/>
              </a:rPr>
              <a:t>Слайд 7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658440" y="1600200"/>
            <a:ext cx="5531760" cy="4571640"/>
          </a:xfrm>
          <a:prstGeom prst="roundRect">
            <a:avLst>
              <a:gd name="adj" fmla="val 2400"/>
            </a:avLst>
          </a:prstGeom>
          <a:solidFill>
            <a:srgbClr val="0f141e"/>
          </a:solidFill>
          <a:ln w="12700">
            <a:solidFill>
              <a:srgbClr val="303744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914400" y="1828800"/>
            <a:ext cx="501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Сервис быстрого шифрования</a:t>
            </a:r>
            <a:endParaRPr b="0" lang="ru-RU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914400" y="2258640"/>
            <a:ext cx="5019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b7bcc8"/>
                </a:solidFill>
                <a:effectLst/>
                <a:uFillTx/>
                <a:latin typeface="Arial"/>
              </a:rPr>
              <a:t>Используйте на свое усмотрение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914400" y="269748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Цезарь</a:t>
            </a:r>
            <a:endParaRPr b="0" lang="ru-RU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2331720" y="269748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b28cff"/>
                </a:solidFill>
                <a:effectLst/>
                <a:uFillTx/>
                <a:latin typeface="Arial"/>
              </a:rPr>
              <a:t>XOR Логика</a:t>
            </a:r>
            <a:endParaRPr b="0" lang="ru-RU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2"/>
          <p:cNvSpPr/>
          <p:nvPr/>
        </p:nvSpPr>
        <p:spPr>
          <a:xfrm>
            <a:off x="2331720" y="3044880"/>
            <a:ext cx="960120" cy="360"/>
          </a:xfrm>
          <a:prstGeom prst="line">
            <a:avLst/>
          </a:prstGeom>
          <a:ln w="26670">
            <a:solidFill>
              <a:srgbClr val="b2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3749040" y="2697480"/>
            <a:ext cx="1096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Baby‑RSA</a:t>
            </a:r>
            <a:endParaRPr b="0" lang="ru-RU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4"/>
          <p:cNvSpPr/>
          <p:nvPr/>
        </p:nvSpPr>
        <p:spPr>
          <a:xfrm>
            <a:off x="914400" y="3108960"/>
            <a:ext cx="4206240" cy="360"/>
          </a:xfrm>
          <a:prstGeom prst="line">
            <a:avLst/>
          </a:prstGeom>
          <a:ln w="13970">
            <a:solidFill>
              <a:srgbClr val="343a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5"/>
          <p:cNvSpPr/>
          <p:nvPr/>
        </p:nvSpPr>
        <p:spPr>
          <a:xfrm>
            <a:off x="914400" y="3227760"/>
            <a:ext cx="501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XOR шифрование (биты)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6"/>
          <p:cNvSpPr/>
          <p:nvPr/>
        </p:nvSpPr>
        <p:spPr>
          <a:xfrm>
            <a:off x="960120" y="365760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b7bcc8"/>
                </a:solidFill>
                <a:effectLst/>
                <a:uFillTx/>
                <a:latin typeface="Arial"/>
              </a:rPr>
              <a:t>Текст для XOR:</a:t>
            </a:r>
            <a:endParaRPr b="0" lang="ru-RU" sz="10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7"/>
          <p:cNvSpPr/>
          <p:nvPr/>
        </p:nvSpPr>
        <p:spPr>
          <a:xfrm>
            <a:off x="960120" y="3913560"/>
            <a:ext cx="4525920" cy="383760"/>
          </a:xfrm>
          <a:prstGeom prst="rect">
            <a:avLst/>
          </a:prstGeom>
          <a:solidFill>
            <a:srgbClr val="292a34"/>
          </a:solidFill>
          <a:ln w="0">
            <a:solidFill>
              <a:srgbClr val="292a34"/>
            </a:solidFill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burmulda</a:t>
            </a:r>
            <a:endParaRPr b="0" lang="ru-RU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8"/>
          <p:cNvSpPr/>
          <p:nvPr/>
        </p:nvSpPr>
        <p:spPr>
          <a:xfrm>
            <a:off x="960120" y="446220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b7bcc8"/>
                </a:solidFill>
                <a:effectLst/>
                <a:uFillTx/>
                <a:latin typeface="Arial"/>
              </a:rPr>
              <a:t>Ключ (слово):</a:t>
            </a:r>
            <a:endParaRPr b="0" lang="ru-RU" sz="10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9"/>
          <p:cNvSpPr/>
          <p:nvPr/>
        </p:nvSpPr>
        <p:spPr>
          <a:xfrm>
            <a:off x="960120" y="4718160"/>
            <a:ext cx="4525920" cy="383760"/>
          </a:xfrm>
          <a:prstGeom prst="rect">
            <a:avLst/>
          </a:prstGeom>
          <a:solidFill>
            <a:srgbClr val="292a34"/>
          </a:solidFill>
          <a:ln w="0">
            <a:solidFill>
              <a:srgbClr val="292a34"/>
            </a:solidFill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KEY</a:t>
            </a:r>
            <a:endParaRPr b="0" lang="ru-RU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0"/>
          <p:cNvSpPr/>
          <p:nvPr/>
        </p:nvSpPr>
        <p:spPr>
          <a:xfrm>
            <a:off x="960120" y="5349240"/>
            <a:ext cx="2742840" cy="383760"/>
          </a:xfrm>
          <a:prstGeom prst="rect">
            <a:avLst/>
          </a:prstGeom>
          <a:solidFill>
            <a:srgbClr val="24d6f2"/>
          </a:solidFill>
          <a:ln w="15240">
            <a:solidFill>
              <a:srgbClr val="ff4d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Выполнить XOR преобразование</a:t>
            </a:r>
            <a:endParaRPr b="0" lang="ru-RU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1"/>
          <p:cNvSpPr/>
          <p:nvPr/>
        </p:nvSpPr>
        <p:spPr>
          <a:xfrm>
            <a:off x="6537960" y="1600200"/>
            <a:ext cx="4708800" cy="4571640"/>
          </a:xfrm>
          <a:prstGeom prst="roundRect">
            <a:avLst>
              <a:gd name="adj" fmla="val 2400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2"/>
          <p:cNvSpPr/>
          <p:nvPr/>
        </p:nvSpPr>
        <p:spPr>
          <a:xfrm>
            <a:off x="6812280" y="1901880"/>
            <a:ext cx="4114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Проверка результата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3"/>
          <p:cNvSpPr/>
          <p:nvPr/>
        </p:nvSpPr>
        <p:spPr>
          <a:xfrm>
            <a:off x="6812280" y="2541960"/>
            <a:ext cx="3977280" cy="502560"/>
          </a:xfrm>
          <a:prstGeom prst="rect">
            <a:avLst/>
          </a:prstGeom>
          <a:solidFill>
            <a:srgbClr val="171c26"/>
          </a:solidFill>
          <a:ln w="0">
            <a:solidFill>
              <a:srgbClr val="171c26"/>
            </a:solidFill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) 0+&amp;05 /$</a:t>
            </a:r>
            <a:endParaRPr b="0" lang="ru-RU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4"/>
          <p:cNvSpPr/>
          <p:nvPr/>
        </p:nvSpPr>
        <p:spPr>
          <a:xfrm>
            <a:off x="6812280" y="3364920"/>
            <a:ext cx="2834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b7bcc8"/>
                </a:solidFill>
                <a:effectLst/>
                <a:uFillTx/>
                <a:latin typeface="Arial"/>
              </a:rPr>
              <a:t>Результат в битах: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5"/>
          <p:cNvSpPr/>
          <p:nvPr/>
        </p:nvSpPr>
        <p:spPr>
          <a:xfrm>
            <a:off x="6812280" y="3675960"/>
            <a:ext cx="3977280" cy="712800"/>
          </a:xfrm>
          <a:prstGeom prst="rect">
            <a:avLst/>
          </a:prstGeom>
          <a:solidFill>
            <a:srgbClr val="151b24"/>
          </a:solidFill>
          <a:ln w="0">
            <a:solidFill>
              <a:srgbClr val="151b24"/>
            </a:solidFill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9ff7ec"/>
                </a:solidFill>
                <a:effectLst/>
                <a:uFillTx/>
                <a:latin typeface="Arial"/>
              </a:rPr>
              <a:t>00101001 00110000 00101011 00100110</a:t>
            </a:r>
            <a:endParaRPr b="0" lang="ru-RU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9ff7ec"/>
                </a:solidFill>
                <a:effectLst/>
                <a:uFillTx/>
                <a:latin typeface="Arial"/>
              </a:rPr>
              <a:t>00110000 00110101 00101111 00100100</a:t>
            </a:r>
            <a:endParaRPr b="0" lang="ru-RU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6"/>
          <p:cNvSpPr/>
          <p:nvPr/>
        </p:nvSpPr>
        <p:spPr>
          <a:xfrm>
            <a:off x="6812280" y="4791600"/>
            <a:ext cx="100080" cy="10008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7"/>
          <p:cNvSpPr/>
          <p:nvPr/>
        </p:nvSpPr>
        <p:spPr>
          <a:xfrm>
            <a:off x="7013520" y="468180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Результат содержит спецсимволы — для XOR это нормально.</a:t>
            </a:r>
            <a:endParaRPr b="0" lang="ru-RU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8"/>
          <p:cNvSpPr/>
          <p:nvPr/>
        </p:nvSpPr>
        <p:spPr>
          <a:xfrm>
            <a:off x="6812280" y="5248800"/>
            <a:ext cx="100080" cy="1000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9"/>
          <p:cNvSpPr/>
          <p:nvPr/>
        </p:nvSpPr>
        <p:spPr>
          <a:xfrm>
            <a:off x="7013520" y="513900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Побитовый вывод помогает показать работу алгоритма.</a:t>
            </a:r>
            <a:endParaRPr b="0" lang="ru-RU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151922"/>
          </a:solidFill>
          <a:ln w="12700">
            <a:solidFill>
              <a:srgbClr val="151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"/>
          <p:cNvSpPr/>
          <p:nvPr/>
        </p:nvSpPr>
        <p:spPr>
          <a:xfrm>
            <a:off x="594360" y="621720"/>
            <a:ext cx="10789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Тест 3: Baby‑RSA</a:t>
            </a:r>
            <a:endParaRPr b="0" lang="ru-RU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594360" y="1298160"/>
            <a:ext cx="10972800" cy="360"/>
          </a:xfrm>
          <a:prstGeom prst="line">
            <a:avLst/>
          </a:prstGeom>
          <a:ln w="15240">
            <a:solidFill>
              <a:srgbClr val="343a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594360" y="6647760"/>
            <a:ext cx="1096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e95a3"/>
                </a:solidFill>
                <a:effectLst/>
                <a:uFillTx/>
                <a:latin typeface="Arial"/>
              </a:rPr>
              <a:t>Слайд 8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7"/>
          <p:cNvSpPr/>
          <p:nvPr/>
        </p:nvSpPr>
        <p:spPr>
          <a:xfrm>
            <a:off x="658440" y="1600200"/>
            <a:ext cx="5577480" cy="4571640"/>
          </a:xfrm>
          <a:prstGeom prst="roundRect">
            <a:avLst>
              <a:gd name="adj" fmla="val 2400"/>
            </a:avLst>
          </a:prstGeom>
          <a:solidFill>
            <a:srgbClr val="0f141e"/>
          </a:solidFill>
          <a:ln w="12700">
            <a:solidFill>
              <a:srgbClr val="303744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914400" y="1828800"/>
            <a:ext cx="506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Сервис быстрого шифрования</a:t>
            </a:r>
            <a:endParaRPr b="0" lang="ru-RU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9"/>
          <p:cNvSpPr/>
          <p:nvPr/>
        </p:nvSpPr>
        <p:spPr>
          <a:xfrm>
            <a:off x="914400" y="2258640"/>
            <a:ext cx="5065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b7bcc8"/>
                </a:solidFill>
                <a:effectLst/>
                <a:uFillTx/>
                <a:latin typeface="Arial"/>
              </a:rPr>
              <a:t>Используйте на свое усмотрение</a:t>
            </a:r>
            <a:endParaRPr b="0" lang="ru-RU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914400" y="269748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Цезарь</a:t>
            </a:r>
            <a:endParaRPr b="0" lang="ru-RU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1"/>
          <p:cNvSpPr/>
          <p:nvPr/>
        </p:nvSpPr>
        <p:spPr>
          <a:xfrm>
            <a:off x="2331720" y="269748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XOR Логика</a:t>
            </a:r>
            <a:endParaRPr b="0" lang="ru-RU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3749040" y="2697480"/>
            <a:ext cx="1096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3498db"/>
                </a:solidFill>
                <a:effectLst/>
                <a:uFillTx/>
                <a:latin typeface="Arial"/>
              </a:rPr>
              <a:t>Baby‑RSA</a:t>
            </a:r>
            <a:endParaRPr b="0" lang="ru-RU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3"/>
          <p:cNvSpPr/>
          <p:nvPr/>
        </p:nvSpPr>
        <p:spPr>
          <a:xfrm>
            <a:off x="3749040" y="3044880"/>
            <a:ext cx="777240" cy="360"/>
          </a:xfrm>
          <a:prstGeom prst="line">
            <a:avLst/>
          </a:prstGeom>
          <a:ln w="26670">
            <a:solidFill>
              <a:srgbClr val="3498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4"/>
          <p:cNvSpPr/>
          <p:nvPr/>
        </p:nvSpPr>
        <p:spPr>
          <a:xfrm>
            <a:off x="914400" y="3108960"/>
            <a:ext cx="4206240" cy="360"/>
          </a:xfrm>
          <a:prstGeom prst="line">
            <a:avLst/>
          </a:prstGeom>
          <a:ln w="13970">
            <a:solidFill>
              <a:srgbClr val="343a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914400" y="3227760"/>
            <a:ext cx="506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Конструктор RSA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6"/>
          <p:cNvSpPr/>
          <p:nvPr/>
        </p:nvSpPr>
        <p:spPr>
          <a:xfrm>
            <a:off x="960120" y="362088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p = 61        q = 53        e = 17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7"/>
          <p:cNvSpPr/>
          <p:nvPr/>
        </p:nvSpPr>
        <p:spPr>
          <a:xfrm>
            <a:off x="960120" y="3977640"/>
            <a:ext cx="4754520" cy="420120"/>
          </a:xfrm>
          <a:prstGeom prst="rect">
            <a:avLst/>
          </a:prstGeom>
          <a:solidFill>
            <a:srgbClr val="123e29"/>
          </a:solidFill>
          <a:ln w="0">
            <a:solidFill>
              <a:srgbClr val="123e29"/>
            </a:solidFill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63e58d"/>
                </a:solidFill>
                <a:effectLst/>
                <a:uFillTx/>
                <a:latin typeface="Arial"/>
              </a:rPr>
              <a:t>Ключи созданы! n = 3233, d = 2753</a:t>
            </a:r>
            <a:endParaRPr b="0" lang="ru-RU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8"/>
          <p:cNvSpPr/>
          <p:nvPr/>
        </p:nvSpPr>
        <p:spPr>
          <a:xfrm>
            <a:off x="960120" y="459036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b7bcc8"/>
                </a:solidFill>
                <a:effectLst/>
                <a:uFillTx/>
                <a:latin typeface="Arial"/>
              </a:rPr>
              <a:t>Действие: зашифровать текст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9"/>
          <p:cNvSpPr/>
          <p:nvPr/>
        </p:nvSpPr>
        <p:spPr>
          <a:xfrm>
            <a:off x="960120" y="4855320"/>
            <a:ext cx="3428640" cy="438480"/>
          </a:xfrm>
          <a:prstGeom prst="rect">
            <a:avLst/>
          </a:prstGeom>
          <a:solidFill>
            <a:srgbClr val="292a34"/>
          </a:solidFill>
          <a:ln w="0">
            <a:solidFill>
              <a:srgbClr val="292a34"/>
            </a:solidFill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бурмулда моя любимая</a:t>
            </a:r>
            <a:endParaRPr b="0" lang="ru-RU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0"/>
          <p:cNvSpPr/>
          <p:nvPr/>
        </p:nvSpPr>
        <p:spPr>
          <a:xfrm>
            <a:off x="960120" y="5559480"/>
            <a:ext cx="2057040" cy="383760"/>
          </a:xfrm>
          <a:prstGeom prst="rect">
            <a:avLst/>
          </a:prstGeom>
          <a:solidFill>
            <a:srgbClr val="24d6f2"/>
          </a:solidFill>
          <a:ln w="15240">
            <a:solidFill>
              <a:srgbClr val="ff4d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rIns="720" t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Запустить RSA процесс</a:t>
            </a:r>
            <a:endParaRPr b="0" lang="ru-RU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1"/>
          <p:cNvSpPr/>
          <p:nvPr/>
        </p:nvSpPr>
        <p:spPr>
          <a:xfrm>
            <a:off x="6537960" y="1600200"/>
            <a:ext cx="4708800" cy="4571640"/>
          </a:xfrm>
          <a:prstGeom prst="roundRect">
            <a:avLst>
              <a:gd name="adj" fmla="val 2400"/>
            </a:avLst>
          </a:prstGeom>
          <a:solidFill>
            <a:srgbClr val="10141d"/>
          </a:solidFill>
          <a:ln w="12700">
            <a:solidFill>
              <a:srgbClr val="303744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2"/>
          <p:cNvSpPr/>
          <p:nvPr/>
        </p:nvSpPr>
        <p:spPr>
          <a:xfrm>
            <a:off x="6812280" y="1901880"/>
            <a:ext cx="4114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Результаты теста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3"/>
          <p:cNvSpPr/>
          <p:nvPr/>
        </p:nvSpPr>
        <p:spPr>
          <a:xfrm>
            <a:off x="6812280" y="2541960"/>
            <a:ext cx="3885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trike="noStrike" u="none">
                <a:solidFill>
                  <a:srgbClr val="b7bcc8"/>
                </a:solidFill>
                <a:effectLst/>
                <a:uFillTx/>
                <a:latin typeface="Arial"/>
              </a:rPr>
              <a:t>Зашифрованный список чисел:</a:t>
            </a:r>
            <a:endParaRPr b="0" lang="ru-RU" sz="12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4"/>
          <p:cNvSpPr/>
          <p:nvPr/>
        </p:nvSpPr>
        <p:spPr>
          <a:xfrm>
            <a:off x="6812280" y="2834640"/>
            <a:ext cx="3977280" cy="749520"/>
          </a:xfrm>
          <a:prstGeom prst="rect">
            <a:avLst/>
          </a:prstGeom>
          <a:solidFill>
            <a:srgbClr val="151b24"/>
          </a:solidFill>
          <a:ln w="0">
            <a:solidFill>
              <a:srgbClr val="151b24"/>
            </a:solidFill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67e8f9"/>
                </a:solidFill>
                <a:effectLst/>
                <a:uFillTx/>
                <a:latin typeface="Arial"/>
              </a:rPr>
              <a:t>1266, 3060, 2930, 1904, 3060, 1666, 187, 1836,</a:t>
            </a:r>
            <a:endParaRPr b="0" lang="ru-RU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67e8f9"/>
                </a:solidFill>
                <a:effectLst/>
                <a:uFillTx/>
                <a:latin typeface="Arial"/>
              </a:rPr>
              <a:t>1992, 1904, 1625, 2720, 1992, 1666</a:t>
            </a:r>
            <a:endParaRPr b="0" lang="ru-RU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5"/>
          <p:cNvSpPr/>
          <p:nvPr/>
        </p:nvSpPr>
        <p:spPr>
          <a:xfrm>
            <a:off x="6812280" y="3931920"/>
            <a:ext cx="3885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30" strike="noStrike" u="none">
                <a:solidFill>
                  <a:srgbClr val="b7bcc8"/>
                </a:solidFill>
                <a:effectLst/>
                <a:uFillTx/>
                <a:latin typeface="Arial"/>
              </a:rPr>
              <a:t>Расшифрованный текст:</a:t>
            </a:r>
            <a:endParaRPr b="0" lang="ru-RU" sz="12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6"/>
          <p:cNvSpPr/>
          <p:nvPr/>
        </p:nvSpPr>
        <p:spPr>
          <a:xfrm>
            <a:off x="6812280" y="4224600"/>
            <a:ext cx="3977280" cy="493560"/>
          </a:xfrm>
          <a:prstGeom prst="rect">
            <a:avLst/>
          </a:prstGeom>
          <a:solidFill>
            <a:srgbClr val="0f301f"/>
          </a:solidFill>
          <a:ln w="0">
            <a:solidFill>
              <a:srgbClr val="0f301f"/>
            </a:solidFill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c6f7d6"/>
                </a:solidFill>
                <a:effectLst/>
                <a:uFillTx/>
                <a:latin typeface="Arial"/>
              </a:rPr>
              <a:t>бурмулда моя любимая</a:t>
            </a:r>
            <a:endParaRPr b="0" lang="ru-RU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7"/>
          <p:cNvSpPr/>
          <p:nvPr/>
        </p:nvSpPr>
        <p:spPr>
          <a:xfrm>
            <a:off x="6812280" y="5139000"/>
            <a:ext cx="100080" cy="1000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8"/>
          <p:cNvSpPr/>
          <p:nvPr/>
        </p:nvSpPr>
        <p:spPr>
          <a:xfrm>
            <a:off x="7013520" y="502920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Ключи создаются, данные шифруются и восстанавливаются.</a:t>
            </a:r>
            <a:endParaRPr b="0" lang="ru-RU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360" y="-82440"/>
            <a:ext cx="12191400" cy="6857640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151922"/>
          </a:solidFill>
          <a:ln w="12700">
            <a:solidFill>
              <a:srgbClr val="1519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594360" y="621720"/>
            <a:ext cx="10789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Заключение</a:t>
            </a:r>
            <a:endParaRPr b="0" lang="ru-RU" sz="2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594360" y="1298160"/>
            <a:ext cx="10972800" cy="360"/>
          </a:xfrm>
          <a:prstGeom prst="line">
            <a:avLst/>
          </a:prstGeom>
          <a:ln w="15240">
            <a:solidFill>
              <a:srgbClr val="343a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594360" y="6647760"/>
            <a:ext cx="1096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8e95a3"/>
                </a:solidFill>
                <a:effectLst/>
                <a:uFillTx/>
                <a:latin typeface="Arial"/>
              </a:rPr>
              <a:t>Слайд 9</a:t>
            </a:r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9"/>
          <p:cNvSpPr/>
          <p:nvPr/>
        </p:nvSpPr>
        <p:spPr>
          <a:xfrm>
            <a:off x="3180960" y="2459880"/>
            <a:ext cx="5074560" cy="2953080"/>
          </a:xfrm>
          <a:prstGeom prst="roundRect">
            <a:avLst>
              <a:gd name="adj" fmla="val 2474"/>
            </a:avLst>
          </a:prstGeom>
          <a:solidFill>
            <a:srgbClr val="0f301f"/>
          </a:solidFill>
          <a:ln w="12700">
            <a:solidFill>
              <a:srgbClr val="0f301f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0"/>
          <p:cNvSpPr/>
          <p:nvPr/>
        </p:nvSpPr>
        <p:spPr>
          <a:xfrm>
            <a:off x="3501000" y="2848320"/>
            <a:ext cx="4434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c6f7d6"/>
                </a:solidFill>
                <a:effectLst/>
                <a:uFillTx/>
                <a:latin typeface="Arial"/>
              </a:rPr>
              <a:t>Финальный вывод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1"/>
          <p:cNvSpPr/>
          <p:nvPr/>
        </p:nvSpPr>
        <p:spPr>
          <a:xfrm>
            <a:off x="3501000" y="3433680"/>
            <a:ext cx="44344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f5f7fa"/>
                </a:solidFill>
                <a:effectLst/>
                <a:uFillTx/>
                <a:latin typeface="Arial"/>
              </a:rPr>
              <a:t>Сервис быстрого шифрования проходит основной сценарий использования: пользователь выбирает алгоритм, вводит данные, запускает преобразование и получает ожидаемый результат. Критических ошибок при проверке основного функционала не обнаружено.</a:t>
            </a:r>
            <a:endParaRPr b="0" lang="ru-RU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2"/>
          <p:cNvSpPr/>
          <p:nvPr/>
        </p:nvSpPr>
        <p:spPr>
          <a:xfrm>
            <a:off x="3501000" y="4585680"/>
            <a:ext cx="4434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LibreOffice/25.2.7.2$Windows_X86_64 LibreOffice_project/5cbfd1ab6520636bb5f7b99185aa69bd7456825d</Application>
  <AppVersion>15.0000</AppVersion>
  <Words>501</Words>
  <Paragraphs>115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2026-05-06T16:22:01Z</dcterms:created>
  <dc:creator>OpenAI</dc:creator>
  <dc:description/>
  <dc:language>ru-RU</dc:language>
  <cp:lastModifiedBy/>
  <dcterms:modified xsi:type="dcterms:W3CDTF">2026-05-07T05:00:41Z</dcterms:modified>
  <cp:revision>5</cp:revision>
  <dc:subject>Тестирование сервиса быстрого шифрования</dc:subject>
  <dc:title>Тестирование сервиса быстрого шифрования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10</vt:i4>
  </property>
</Properties>
</file>