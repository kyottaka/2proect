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1922"/>
          </a:solidFill>
          <a:ln w="12700">
            <a:solidFill>
              <a:srgbClr val="151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45720"/>
            <a:ext cx="2560320" cy="2560320"/>
          </a:xfrm>
          <a:prstGeom prst="arc">
            <a:avLst/>
          </a:prstGeom>
          <a:solidFill>
            <a:srgbClr val="0B0F17">
              <a:alpha val="0"/>
            </a:srgbClr>
          </a:solidFill>
          <a:ln w="25400">
            <a:solidFill>
              <a:srgbClr val="FF4D5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035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57"/>
                </a:solidFill>
              </a:rPr>
              <a:t>ПУНКТ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051560"/>
            <a:ext cx="8961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5F7FA"/>
                </a:solidFill>
              </a:rPr>
              <a:t>Тестирование сервиса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5F7FA"/>
                </a:solidFill>
              </a:rPr>
              <a:t>быстрого шифрования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685800" y="2542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7BCC8"/>
                </a:solidFill>
              </a:rPr>
              <a:t>Сценарий использования, проверка функций, результаты тестов, скриншоты и заключение.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1143000" cy="310896"/>
          </a:xfrm>
          <a:prstGeom prst="rect">
            <a:avLst/>
          </a:prstGeom>
          <a:solidFill>
            <a:srgbClr val="FF4D57"/>
          </a:solidFill>
          <a:ln>
            <a:solidFill>
              <a:srgbClr val="FF4D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</a:rPr>
              <a:t>Цезарь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965960" y="3703320"/>
            <a:ext cx="960120" cy="310896"/>
          </a:xfrm>
          <a:prstGeom prst="rect">
            <a:avLst/>
          </a:prstGeom>
          <a:solidFill>
            <a:srgbClr val="B28CFF"/>
          </a:solidFill>
          <a:ln>
            <a:solidFill>
              <a:srgbClr val="B28C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</a:rPr>
              <a:t>XOR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63240" y="3703320"/>
            <a:ext cx="1508760" cy="310896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</a:rPr>
              <a:t>Baby‑RSA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43800" y="3794760"/>
            <a:ext cx="3657600" cy="1234440"/>
          </a:xfrm>
          <a:prstGeom prst="roundRect">
            <a:avLst>
              <a:gd name="adj" fmla="val 8889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Роль тестировщика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18120" y="440740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7BCC8"/>
                </a:solidFill>
              </a:rPr>
              <a:t>Проверить весь функционал шифрования по сценарию и зафиксировать результат.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66476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3"/>
                </a:solidFill>
              </a:rPr>
              <a:t>Слайд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543800" y="66476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5A3"/>
                </a:solidFill>
              </a:rPr>
              <a:t>Отчет тестировщика · функционал шифрования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1922"/>
          </a:solidFill>
          <a:ln w="12700">
            <a:solidFill>
              <a:srgbClr val="151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4D57"/>
                </a:solidFill>
              </a:rPr>
              <a:t>Пункт 4 · тестирование сервиса шифрования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</a:rPr>
              <a:t>Что проверялось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5240">
            <a:solidFill>
              <a:srgbClr val="343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6476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3"/>
                </a:solidFill>
              </a:rPr>
              <a:t>Слайд 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43800" y="66476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5A3"/>
                </a:solidFill>
              </a:rPr>
              <a:t>Отчет тестировщика · функционал шифрования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3337560" cy="3246120"/>
          </a:xfrm>
          <a:prstGeom prst="roundRect">
            <a:avLst>
              <a:gd name="adj" fmla="val 3380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874520"/>
            <a:ext cx="100584" cy="3246120"/>
          </a:xfrm>
          <a:prstGeom prst="rect">
            <a:avLst/>
          </a:prstGeom>
          <a:solidFill>
            <a:srgbClr val="FF4D57"/>
          </a:solidFill>
          <a:ln w="12700">
            <a:solidFill>
              <a:srgbClr val="FF4D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2128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F7FA"/>
                </a:solidFill>
              </a:rPr>
              <a:t>Шифр Цезаря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2761488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B7BCC8"/>
                </a:solidFill>
              </a:rPr>
              <a:t>Шифрование и расшифровка русского текста по числовому ключу.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1051560" y="4133088"/>
            <a:ext cx="2697480" cy="530352"/>
          </a:xfrm>
          <a:prstGeom prst="rect">
            <a:avLst/>
          </a:prstGeom>
          <a:solidFill>
            <a:srgbClr val="171C26"/>
          </a:solidFill>
          <a:ln>
            <a:solidFill>
              <a:srgbClr val="171C2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5F7FA"/>
                </a:solidFill>
              </a:rPr>
              <a:t>Критерий: результат появляется и совпадает с ожидаемой логикой.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4526280" y="1874520"/>
            <a:ext cx="3337560" cy="3246120"/>
          </a:xfrm>
          <a:prstGeom prst="roundRect">
            <a:avLst>
              <a:gd name="adj" fmla="val 3380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1874520"/>
            <a:ext cx="100584" cy="3246120"/>
          </a:xfrm>
          <a:prstGeom prst="rect">
            <a:avLst/>
          </a:prstGeom>
          <a:solidFill>
            <a:srgbClr val="B28CFF"/>
          </a:solidFill>
          <a:ln w="12700">
            <a:solidFill>
              <a:srgbClr val="B2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2128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F7FA"/>
                </a:solidFill>
              </a:rPr>
              <a:t>XOR логика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0" y="2761488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B7BCC8"/>
                </a:solidFill>
              </a:rPr>
              <a:t>Преобразование латинского текста словом‑ключом и вывод результата в битах.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846320" y="4133088"/>
            <a:ext cx="2697480" cy="530352"/>
          </a:xfrm>
          <a:prstGeom prst="rect">
            <a:avLst/>
          </a:prstGeom>
          <a:solidFill>
            <a:srgbClr val="171C26"/>
          </a:solidFill>
          <a:ln>
            <a:solidFill>
              <a:srgbClr val="171C2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5F7FA"/>
                </a:solidFill>
              </a:rPr>
              <a:t>Критерий: результат появляется и совпадает с ожидаемой логикой.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8321040" y="1874520"/>
            <a:ext cx="3337560" cy="3246120"/>
          </a:xfrm>
          <a:prstGeom prst="roundRect">
            <a:avLst>
              <a:gd name="adj" fmla="val 3380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1874520"/>
            <a:ext cx="100584" cy="32461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22128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F7FA"/>
                </a:solidFill>
              </a:rPr>
              <a:t>Baby‑RSA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41080" y="2761488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B7BCC8"/>
                </a:solidFill>
              </a:rPr>
              <a:t>Создание ключей, шифрование текста в числа и обратная дешифровка.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641080" y="4133088"/>
            <a:ext cx="2697480" cy="530352"/>
          </a:xfrm>
          <a:prstGeom prst="rect">
            <a:avLst/>
          </a:prstGeom>
          <a:solidFill>
            <a:srgbClr val="171C26"/>
          </a:solidFill>
          <a:ln>
            <a:solidFill>
              <a:srgbClr val="171C2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5F7FA"/>
                </a:solidFill>
              </a:rPr>
              <a:t>Критерий: результат появляется и совпадает с ожидаемой логикой.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1051560" y="5687568"/>
            <a:ext cx="10058400" cy="530352"/>
          </a:xfrm>
          <a:prstGeom prst="roundRect">
            <a:avLst>
              <a:gd name="adj" fmla="val 20690"/>
            </a:avLst>
          </a:prstGeom>
          <a:solidFill>
            <a:srgbClr val="0F301F"/>
          </a:solidFill>
          <a:ln w="12700">
            <a:solidFill>
              <a:srgbClr val="0F301F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5852160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C6F7D6"/>
                </a:solidFill>
              </a:rPr>
              <a:t>Главная проверка: если выполнить обратное преобразование, приложение должно вернуть исходный текст.</a:t>
            </a:r>
            <a:endParaRPr lang="en-US" sz="14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1922"/>
          </a:solidFill>
          <a:ln w="12700">
            <a:solidFill>
              <a:srgbClr val="151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4D57"/>
                </a:solidFill>
              </a:rPr>
              <a:t>Пункт 4 · тестирование сервиса шифрования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</a:rPr>
              <a:t>Сценарий использования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5240">
            <a:solidFill>
              <a:srgbClr val="343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6476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3"/>
                </a:solidFill>
              </a:rPr>
              <a:t>Слайд 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43800" y="66476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5A3"/>
                </a:solidFill>
              </a:rPr>
              <a:t>Отчет тестировщика · функционал шифрования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65960" y="3017520"/>
            <a:ext cx="685800" cy="0"/>
          </a:xfrm>
          <a:prstGeom prst="line">
            <a:avLst/>
          </a:prstGeom>
          <a:noFill/>
          <a:ln w="25400">
            <a:solidFill>
              <a:srgbClr val="343A4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86200" y="3017520"/>
            <a:ext cx="685800" cy="0"/>
          </a:xfrm>
          <a:prstGeom prst="line">
            <a:avLst/>
          </a:prstGeom>
          <a:noFill/>
          <a:ln w="25400">
            <a:solidFill>
              <a:srgbClr val="343A4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06440" y="3017520"/>
            <a:ext cx="685800" cy="0"/>
          </a:xfrm>
          <a:prstGeom prst="line">
            <a:avLst/>
          </a:prstGeom>
          <a:noFill/>
          <a:ln w="25400">
            <a:solidFill>
              <a:srgbClr val="343A4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26680" y="3017520"/>
            <a:ext cx="685800" cy="0"/>
          </a:xfrm>
          <a:prstGeom prst="line">
            <a:avLst/>
          </a:prstGeom>
          <a:noFill/>
          <a:ln w="25400">
            <a:solidFill>
              <a:srgbClr val="343A4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646920" y="3017520"/>
            <a:ext cx="685800" cy="0"/>
          </a:xfrm>
          <a:prstGeom prst="line">
            <a:avLst/>
          </a:prstGeom>
          <a:noFill/>
          <a:ln w="25400">
            <a:solidFill>
              <a:srgbClr val="343A4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214884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111722"/>
          </a:solidFill>
          <a:ln w="12700">
            <a:solidFill>
              <a:srgbClr val="344052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424" y="23317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57"/>
                </a:solidFill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58952" y="27797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5F7FA"/>
                </a:solidFill>
              </a:rPr>
              <a:t>Запуск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758952" y="318211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B7BCC8"/>
                </a:solidFill>
              </a:rPr>
              <a:t>открыть сервис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2560320" y="214884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111722"/>
          </a:solidFill>
          <a:ln w="12700">
            <a:solidFill>
              <a:srgbClr val="344052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26664" y="23317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57"/>
                </a:solidFill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679192" y="27797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5F7FA"/>
                </a:solidFill>
              </a:rPr>
              <a:t>Выбор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2679192" y="318211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B7BCC8"/>
                </a:solidFill>
              </a:rPr>
              <a:t>Цезарь / XOR / RSA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4480560" y="214884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111722"/>
          </a:solidFill>
          <a:ln w="12700">
            <a:solidFill>
              <a:srgbClr val="344052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46904" y="23317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57"/>
                </a:solidFill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99432" y="27797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5F7FA"/>
                </a:solidFill>
              </a:rPr>
              <a:t>Ввод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4599432" y="318211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B7BCC8"/>
                </a:solidFill>
              </a:rPr>
              <a:t>текст и ключи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400800" y="214884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111722"/>
          </a:solidFill>
          <a:ln w="12700">
            <a:solidFill>
              <a:srgbClr val="344052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67144" y="23317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57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19672" y="27797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5F7FA"/>
                </a:solidFill>
              </a:rPr>
              <a:t>Запуск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6519672" y="318211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B7BCC8"/>
                </a:solidFill>
              </a:rPr>
              <a:t>нажать кнопку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321040" y="214884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111722"/>
          </a:solidFill>
          <a:ln w="12700">
            <a:solidFill>
              <a:srgbClr val="344052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87384" y="23317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57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439912" y="27797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5F7FA"/>
                </a:solidFill>
              </a:rPr>
              <a:t>Проверка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8439912" y="318211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B7BCC8"/>
                </a:solidFill>
              </a:rPr>
              <a:t>сравнить результат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10241280" y="214884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111722"/>
          </a:solidFill>
          <a:ln w="12700">
            <a:solidFill>
              <a:srgbClr val="344052">
                <a:alpha val="9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07624" y="23317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57"/>
                </a:solidFill>
              </a:rPr>
              <a:t>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0360152" y="27797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5F7FA"/>
                </a:solidFill>
              </a:rPr>
              <a:t>Фиксация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10360152" y="318211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B7BCC8"/>
                </a:solidFill>
              </a:rPr>
              <a:t>скриншот + вывод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960120" y="4773168"/>
            <a:ext cx="10241280" cy="841248"/>
          </a:xfrm>
          <a:prstGeom prst="roundRect">
            <a:avLst>
              <a:gd name="adj" fmla="val 13043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52728" y="5038344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5F7FA"/>
                </a:solidFill>
              </a:rPr>
              <a:t>Для каждого режима записывались действия тестировщика, введенные данные, ожидаемый результат и фактический результат.</a:t>
            </a:r>
            <a:endParaRPr lang="en-US" sz="15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1922"/>
          </a:solidFill>
          <a:ln w="12700">
            <a:solidFill>
              <a:srgbClr val="151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4D57"/>
                </a:solidFill>
              </a:rPr>
              <a:t>Пункт 4 · тестирование сервиса шифрования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</a:rPr>
              <a:t>Тест 1: шифр Цезаря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5240">
            <a:solidFill>
              <a:srgbClr val="343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6476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3"/>
                </a:solidFill>
              </a:rPr>
              <a:t>Слайд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43800" y="66476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5A3"/>
                </a:solidFill>
              </a:rPr>
              <a:t>Отчет тестировщика · функционал шифрования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627632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0F141E"/>
          </a:solidFill>
          <a:ln w="12700">
            <a:solidFill>
              <a:srgbClr val="303744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56232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</a:rPr>
              <a:t>Сервис быстрого шифрования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BCC8"/>
                </a:solidFill>
              </a:rPr>
              <a:t>Используйте на свое усмотрение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272491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4D57"/>
                </a:solidFill>
              </a:rPr>
              <a:t>Цезарь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3072384"/>
            <a:ext cx="960120" cy="0"/>
          </a:xfrm>
          <a:prstGeom prst="line">
            <a:avLst/>
          </a:prstGeom>
          <a:noFill/>
          <a:ln w="26670">
            <a:solidFill>
              <a:srgbClr val="FF4D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272491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XOR Логика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49040" y="27249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Baby‑RSA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3136392"/>
            <a:ext cx="4206240" cy="0"/>
          </a:xfrm>
          <a:prstGeom prst="line">
            <a:avLst/>
          </a:prstGeom>
          <a:noFill/>
          <a:ln w="13970">
            <a:solidFill>
              <a:srgbClr val="343A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255264"/>
            <a:ext cx="4745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Шифр Цезаря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721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B7BCC8"/>
                </a:solidFill>
              </a:rPr>
              <a:t>Режим: зашифровать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60120" y="4005072"/>
            <a:ext cx="2514600" cy="420624"/>
          </a:xfrm>
          <a:prstGeom prst="rect">
            <a:avLst/>
          </a:prstGeom>
          <a:solidFill>
            <a:srgbClr val="292A34"/>
          </a:solidFill>
          <a:ln>
            <a:solidFill>
              <a:srgbClr val="292A3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5F7FA"/>
                </a:solidFill>
              </a:rPr>
              <a:t>бурмулда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3657600" y="4087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F5F7FA"/>
                </a:solidFill>
              </a:rPr>
              <a:t>Сдвиг: 3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960120" y="4617720"/>
            <a:ext cx="2514600" cy="384048"/>
          </a:xfrm>
          <a:prstGeom prst="rect">
            <a:avLst/>
          </a:prstGeom>
          <a:solidFill>
            <a:srgbClr val="24D6F2"/>
          </a:solidFill>
          <a:ln w="15240">
            <a:solidFill>
              <a:srgbClr val="FF4D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Выполнить преобразование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120" y="5285232"/>
            <a:ext cx="4526280" cy="457200"/>
          </a:xfrm>
          <a:prstGeom prst="rect">
            <a:avLst/>
          </a:prstGeom>
          <a:solidFill>
            <a:srgbClr val="171C26"/>
          </a:solidFill>
          <a:ln>
            <a:solidFill>
              <a:srgbClr val="171C2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5F7FA"/>
                </a:solidFill>
              </a:rPr>
              <a:t>Результат: дцупцоэг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6309360" y="1627632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9385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A"/>
                </a:solidFill>
              </a:rPr>
              <a:t>Действия и результат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583680" y="2688336"/>
            <a:ext cx="100584" cy="100584"/>
          </a:xfrm>
          <a:prstGeom prst="ellipse">
            <a:avLst/>
          </a:prstGeom>
          <a:solidFill>
            <a:srgbClr val="FF4D57"/>
          </a:solidFill>
          <a:ln w="12700">
            <a:solidFill>
              <a:srgbClr val="FF4D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848" y="25786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5F7FA"/>
                </a:solidFill>
              </a:rPr>
              <a:t>Открыта вкладка «Цезарь».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583680" y="3172968"/>
            <a:ext cx="100584" cy="100584"/>
          </a:xfrm>
          <a:prstGeom prst="ellipse">
            <a:avLst/>
          </a:prstGeom>
          <a:solidFill>
            <a:srgbClr val="FF4D57"/>
          </a:solidFill>
          <a:ln w="12700">
            <a:solidFill>
              <a:srgbClr val="FF4D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30632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5F7FA"/>
                </a:solidFill>
              </a:rPr>
              <a:t>Введен текст «бурмулда» и ключ 3.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583680" y="3657600"/>
            <a:ext cx="100584" cy="100584"/>
          </a:xfrm>
          <a:prstGeom prst="ellipse">
            <a:avLst/>
          </a:prstGeom>
          <a:solidFill>
            <a:srgbClr val="24D6F2"/>
          </a:solidFill>
          <a:ln w="12700">
            <a:solidFill>
              <a:srgbClr val="24D6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354787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5F7FA"/>
                </a:solidFill>
              </a:rPr>
              <a:t>После запуска получен зашифрованный текст «дцупцоэг».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583680" y="4142232"/>
            <a:ext cx="100584" cy="10058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4848" y="403250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5F7FA"/>
                </a:solidFill>
              </a:rPr>
              <a:t>При режиме «Расшифровать» этот текст возвращается в исходный.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583680" y="5047488"/>
            <a:ext cx="4389120" cy="512064"/>
          </a:xfrm>
          <a:prstGeom prst="rect">
            <a:avLst/>
          </a:prstGeom>
          <a:solidFill>
            <a:srgbClr val="0F301F"/>
          </a:solidFill>
          <a:ln>
            <a:solidFill>
              <a:srgbClr val="0F301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6F7D6"/>
                </a:solidFill>
              </a:rPr>
              <a:t>Вывод: шифрование и обратное преобразование работают корректно.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1922"/>
          </a:solidFill>
          <a:ln w="12700">
            <a:solidFill>
              <a:srgbClr val="151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4D57"/>
                </a:solidFill>
              </a:rPr>
              <a:t>Пункт 4 · тестирование сервиса шифрования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</a:rPr>
              <a:t>Тест 2: XOR логика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5240">
            <a:solidFill>
              <a:srgbClr val="343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6476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3"/>
                </a:solidFill>
              </a:rPr>
              <a:t>Слайд 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43800" y="66476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5A3"/>
                </a:solidFill>
              </a:rPr>
              <a:t>Отчет тестировщика · функционал шифрования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532120" cy="4572000"/>
          </a:xfrm>
          <a:prstGeom prst="roundRect">
            <a:avLst>
              <a:gd name="adj" fmla="val 2400"/>
            </a:avLst>
          </a:prstGeom>
          <a:solidFill>
            <a:srgbClr val="0F141E"/>
          </a:solidFill>
          <a:ln w="12700">
            <a:solidFill>
              <a:srgbClr val="303744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28800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</a:rPr>
              <a:t>Сервис быстрого шифрования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2258568"/>
            <a:ext cx="5020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BCC8"/>
                </a:solidFill>
              </a:rPr>
              <a:t>Используйте на свое усмотрение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Цезарь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31720" y="26974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B28CFF"/>
                </a:solidFill>
              </a:rPr>
              <a:t>XOR Логика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331720" y="3044952"/>
            <a:ext cx="960120" cy="0"/>
          </a:xfrm>
          <a:prstGeom prst="line">
            <a:avLst/>
          </a:prstGeom>
          <a:noFill/>
          <a:ln w="26670">
            <a:solidFill>
              <a:srgbClr val="B2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26974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Baby‑RSA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3108960"/>
            <a:ext cx="4206240" cy="0"/>
          </a:xfrm>
          <a:prstGeom prst="line">
            <a:avLst/>
          </a:prstGeom>
          <a:noFill/>
          <a:ln w="13970">
            <a:solidFill>
              <a:srgbClr val="343A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227832"/>
            <a:ext cx="5020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XOR шифрование (биты)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6576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B7BCC8"/>
                </a:solidFill>
              </a:rPr>
              <a:t>Текст для XOR: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960120" y="3913632"/>
            <a:ext cx="4526280" cy="384048"/>
          </a:xfrm>
          <a:prstGeom prst="rect">
            <a:avLst/>
          </a:prstGeom>
          <a:solidFill>
            <a:srgbClr val="292A34"/>
          </a:solidFill>
          <a:ln>
            <a:solidFill>
              <a:srgbClr val="292A3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5F7FA"/>
                </a:solidFill>
              </a:rPr>
              <a:t>burmulda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960120" y="4462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B7BCC8"/>
                </a:solidFill>
              </a:rPr>
              <a:t>Ключ (слово):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960120" y="4718304"/>
            <a:ext cx="4526280" cy="384048"/>
          </a:xfrm>
          <a:prstGeom prst="rect">
            <a:avLst/>
          </a:prstGeom>
          <a:solidFill>
            <a:srgbClr val="292A34"/>
          </a:solidFill>
          <a:ln>
            <a:solidFill>
              <a:srgbClr val="292A3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5F7FA"/>
                </a:solidFill>
              </a:rPr>
              <a:t>KEY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960120" y="5349240"/>
            <a:ext cx="2743200" cy="384048"/>
          </a:xfrm>
          <a:prstGeom prst="rect">
            <a:avLst/>
          </a:prstGeom>
          <a:solidFill>
            <a:srgbClr val="24D6F2"/>
          </a:solidFill>
          <a:ln w="15240">
            <a:solidFill>
              <a:srgbClr val="FF4D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Выполнить XOR преобразование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37960" y="1600200"/>
            <a:ext cx="4709160" cy="4572000"/>
          </a:xfrm>
          <a:prstGeom prst="roundRect">
            <a:avLst>
              <a:gd name="adj" fmla="val 2400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9019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A"/>
                </a:solidFill>
              </a:rPr>
              <a:t>Проверка результата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12280" y="2542032"/>
            <a:ext cx="3977640" cy="502920"/>
          </a:xfrm>
          <a:prstGeom prst="rect">
            <a:avLst/>
          </a:prstGeom>
          <a:solidFill>
            <a:srgbClr val="171C26"/>
          </a:solidFill>
          <a:ln>
            <a:solidFill>
              <a:srgbClr val="171C2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5F7FA"/>
                </a:solidFill>
              </a:rPr>
              <a:t>) 0+&amp;05 /$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6812280" y="33649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BCC8"/>
                </a:solidFill>
              </a:rPr>
              <a:t>Результат в битах: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12280" y="3675888"/>
            <a:ext cx="3977640" cy="713232"/>
          </a:xfrm>
          <a:prstGeom prst="rect">
            <a:avLst/>
          </a:prstGeom>
          <a:solidFill>
            <a:srgbClr val="151B24"/>
          </a:solidFill>
          <a:ln>
            <a:solidFill>
              <a:srgbClr val="151B2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9FF7EC"/>
                </a:solidFill>
              </a:rPr>
              <a:t>00101001 00110000 00101011 00100110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9FF7EC"/>
                </a:solidFill>
              </a:rPr>
              <a:t>00110000 00110101 00101111 00100100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6812280" y="4791456"/>
            <a:ext cx="100584" cy="100584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13448" y="468172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</a:rPr>
              <a:t>Результат содержит спецсимволы — для XOR это нормально.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812280" y="5248656"/>
            <a:ext cx="100584" cy="10058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13448" y="513892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</a:rPr>
              <a:t>Побитовый вывод помогает показать работу алгоритма.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1922"/>
          </a:solidFill>
          <a:ln w="12700">
            <a:solidFill>
              <a:srgbClr val="151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4D57"/>
                </a:solidFill>
              </a:rPr>
              <a:t>Пункт 4 · тестирование сервиса шифрования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</a:rPr>
              <a:t>Тест 3: Baby‑RSA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5240">
            <a:solidFill>
              <a:srgbClr val="343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6476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3"/>
                </a:solidFill>
              </a:rPr>
              <a:t>Слайд 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43800" y="66476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5A3"/>
                </a:solidFill>
              </a:rPr>
              <a:t>Отчет тестировщика · функционал шифрования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577840" cy="4572000"/>
          </a:xfrm>
          <a:prstGeom prst="roundRect">
            <a:avLst>
              <a:gd name="adj" fmla="val 2400"/>
            </a:avLst>
          </a:prstGeom>
          <a:solidFill>
            <a:srgbClr val="0F141E"/>
          </a:solidFill>
          <a:ln w="12700">
            <a:solidFill>
              <a:srgbClr val="303744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288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</a:rPr>
              <a:t>Сервис быстрого шифрования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2258568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BCC8"/>
                </a:solidFill>
              </a:rPr>
              <a:t>Используйте на свое усмотрение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Цезарь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31720" y="26974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XOR Логика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49040" y="26974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3498DB"/>
                </a:solidFill>
              </a:rPr>
              <a:t>Baby‑RSA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49040" y="3044952"/>
            <a:ext cx="777240" cy="0"/>
          </a:xfrm>
          <a:prstGeom prst="line">
            <a:avLst/>
          </a:prstGeom>
          <a:noFill/>
          <a:ln w="26670">
            <a:solidFill>
              <a:srgbClr val="3498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108960"/>
            <a:ext cx="4206240" cy="0"/>
          </a:xfrm>
          <a:prstGeom prst="line">
            <a:avLst/>
          </a:prstGeom>
          <a:noFill/>
          <a:ln w="13970">
            <a:solidFill>
              <a:srgbClr val="343A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227832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Конструктор RSA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62102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</a:rPr>
              <a:t>p = 61        q = 53        e = 17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977640"/>
            <a:ext cx="4754880" cy="420624"/>
          </a:xfrm>
          <a:prstGeom prst="rect">
            <a:avLst/>
          </a:prstGeom>
          <a:solidFill>
            <a:srgbClr val="123E29"/>
          </a:solidFill>
          <a:ln>
            <a:solidFill>
              <a:srgbClr val="123E2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3E58D"/>
                </a:solidFill>
              </a:rPr>
              <a:t>Ключи созданы! n = 3233, d = 2753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960120" y="45902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BCC8"/>
                </a:solidFill>
              </a:rPr>
              <a:t>Действие: зашифровать текст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4855464"/>
            <a:ext cx="3429000" cy="438912"/>
          </a:xfrm>
          <a:prstGeom prst="rect">
            <a:avLst/>
          </a:prstGeom>
          <a:solidFill>
            <a:srgbClr val="292A34"/>
          </a:solidFill>
          <a:ln>
            <a:solidFill>
              <a:srgbClr val="292A3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5F7FA"/>
                </a:solidFill>
              </a:rPr>
              <a:t>бурмулда моя любимая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960120" y="5559552"/>
            <a:ext cx="2057400" cy="384048"/>
          </a:xfrm>
          <a:prstGeom prst="rect">
            <a:avLst/>
          </a:prstGeom>
          <a:solidFill>
            <a:srgbClr val="24D6F2"/>
          </a:solidFill>
          <a:ln w="15240">
            <a:solidFill>
              <a:srgbClr val="FF4D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Запустить RSA процесс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37960" y="1600200"/>
            <a:ext cx="4709160" cy="4572000"/>
          </a:xfrm>
          <a:prstGeom prst="roundRect">
            <a:avLst>
              <a:gd name="adj" fmla="val 2400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9019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A"/>
                </a:solidFill>
              </a:rPr>
              <a:t>Результаты теста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12280" y="254203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B7BCC8"/>
                </a:solidFill>
              </a:rPr>
              <a:t>Зашифрованный список чисел: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6812280" y="2834640"/>
            <a:ext cx="3977640" cy="749808"/>
          </a:xfrm>
          <a:prstGeom prst="rect">
            <a:avLst/>
          </a:prstGeom>
          <a:solidFill>
            <a:srgbClr val="151B24"/>
          </a:solidFill>
          <a:ln>
            <a:solidFill>
              <a:srgbClr val="151B2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7E8F9"/>
                </a:solidFill>
              </a:rPr>
              <a:t>1266, 3060, 2930, 1904, 3060, 1666, 187, 1836,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67E8F9"/>
                </a:solidFill>
              </a:rPr>
              <a:t>1992, 1904, 1625, 2720, 1992, 1666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812280" y="393192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B7BCC8"/>
                </a:solidFill>
              </a:rPr>
              <a:t>Расшифрованный текст: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6812280" y="4224528"/>
            <a:ext cx="3977640" cy="493776"/>
          </a:xfrm>
          <a:prstGeom prst="rect">
            <a:avLst/>
          </a:prstGeom>
          <a:solidFill>
            <a:srgbClr val="0F301F"/>
          </a:solidFill>
          <a:ln>
            <a:solidFill>
              <a:srgbClr val="0F301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6F7D6"/>
                </a:solidFill>
              </a:rPr>
              <a:t>бурмулда моя любимая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6812280" y="5138928"/>
            <a:ext cx="100584" cy="10058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502920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</a:rPr>
              <a:t>Ключи создаются, данные шифруются и восстанавливаются.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1922"/>
          </a:solidFill>
          <a:ln w="12700">
            <a:solidFill>
              <a:srgbClr val="151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4D57"/>
                </a:solidFill>
              </a:rPr>
              <a:t>Пункт 4 · тестирование сервиса шифрования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</a:rPr>
              <a:t>Чек‑лист тестирования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5240">
            <a:solidFill>
              <a:srgbClr val="343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6476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3"/>
                </a:solidFill>
              </a:rPr>
              <a:t>Слайд 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43800" y="66476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5A3"/>
                </a:solidFill>
              </a:rPr>
              <a:t>Отчет тестировщика · функционал шифрования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1463040" cy="475488"/>
          </a:xfrm>
          <a:prstGeom prst="rect">
            <a:avLst/>
          </a:prstGeom>
          <a:solidFill>
            <a:srgbClr val="222633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</a:rPr>
              <a:t>Функция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1600200"/>
            <a:ext cx="3246120" cy="475488"/>
          </a:xfrm>
          <a:prstGeom prst="rect">
            <a:avLst/>
          </a:prstGeom>
          <a:solidFill>
            <a:srgbClr val="222633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</a:rPr>
              <a:t>Действие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1600200"/>
            <a:ext cx="3977640" cy="475488"/>
          </a:xfrm>
          <a:prstGeom prst="rect">
            <a:avLst/>
          </a:prstGeom>
          <a:solidFill>
            <a:srgbClr val="222633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</a:rPr>
              <a:t>Ожидаемый результат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72600" y="1600200"/>
            <a:ext cx="1965960" cy="475488"/>
          </a:xfrm>
          <a:prstGeom prst="rect">
            <a:avLst/>
          </a:prstGeom>
          <a:solidFill>
            <a:srgbClr val="222633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</a:rPr>
              <a:t>Статус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1463040" cy="713232"/>
          </a:xfrm>
          <a:prstGeom prst="rect">
            <a:avLst/>
          </a:prstGeom>
          <a:solidFill>
            <a:srgbClr val="10141D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Цезарь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2075688"/>
            <a:ext cx="3246120" cy="713232"/>
          </a:xfrm>
          <a:prstGeom prst="rect">
            <a:avLst/>
          </a:prstGeom>
          <a:solidFill>
            <a:srgbClr val="10141D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Зашифровать и расшифровать «бурмулда»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94960" y="2075688"/>
            <a:ext cx="3977640" cy="713232"/>
          </a:xfrm>
          <a:prstGeom prst="rect">
            <a:avLst/>
          </a:prstGeom>
          <a:solidFill>
            <a:srgbClr val="10141D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После обратного действия получается исходный текст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72600" y="2075688"/>
            <a:ext cx="1965960" cy="713232"/>
          </a:xfrm>
          <a:prstGeom prst="rect">
            <a:avLst/>
          </a:prstGeom>
          <a:solidFill>
            <a:srgbClr val="0F301F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6F7D6"/>
                </a:solidFill>
              </a:rPr>
              <a:t>Пройдено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2788920"/>
            <a:ext cx="1463040" cy="713232"/>
          </a:xfrm>
          <a:prstGeom prst="rect">
            <a:avLst/>
          </a:prstGeom>
          <a:solidFill>
            <a:srgbClr val="10141D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XOR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48840" y="2788920"/>
            <a:ext cx="3246120" cy="713232"/>
          </a:xfrm>
          <a:prstGeom prst="rect">
            <a:avLst/>
          </a:prstGeom>
          <a:solidFill>
            <a:srgbClr val="10141D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Ввести burmulda и ключ KEY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94960" y="2788920"/>
            <a:ext cx="3977640" cy="713232"/>
          </a:xfrm>
          <a:prstGeom prst="rect">
            <a:avLst/>
          </a:prstGeom>
          <a:solidFill>
            <a:srgbClr val="10141D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Формируется результат в символах и битах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72600" y="2788920"/>
            <a:ext cx="1965960" cy="713232"/>
          </a:xfrm>
          <a:prstGeom prst="rect">
            <a:avLst/>
          </a:prstGeom>
          <a:solidFill>
            <a:srgbClr val="0F301F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6F7D6"/>
                </a:solidFill>
              </a:rPr>
              <a:t>Пройдено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" y="3502152"/>
            <a:ext cx="1463040" cy="713232"/>
          </a:xfrm>
          <a:prstGeom prst="rect">
            <a:avLst/>
          </a:prstGeom>
          <a:solidFill>
            <a:srgbClr val="10141D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Baby‑RSA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48840" y="3502152"/>
            <a:ext cx="3246120" cy="713232"/>
          </a:xfrm>
          <a:prstGeom prst="rect">
            <a:avLst/>
          </a:prstGeom>
          <a:solidFill>
            <a:srgbClr val="10141D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Создать ключи и выполнить два режима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94960" y="3502152"/>
            <a:ext cx="3977640" cy="713232"/>
          </a:xfrm>
          <a:prstGeom prst="rect">
            <a:avLst/>
          </a:prstGeom>
          <a:solidFill>
            <a:srgbClr val="10141D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Текст превращается в числа и восстанавливается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72600" y="3502152"/>
            <a:ext cx="1965960" cy="713232"/>
          </a:xfrm>
          <a:prstGeom prst="rect">
            <a:avLst/>
          </a:prstGeom>
          <a:solidFill>
            <a:srgbClr val="0F301F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6F7D6"/>
                </a:solidFill>
              </a:rPr>
              <a:t>Пройдено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" y="4215384"/>
            <a:ext cx="1463040" cy="713232"/>
          </a:xfrm>
          <a:prstGeom prst="rect">
            <a:avLst/>
          </a:prstGeom>
          <a:solidFill>
            <a:srgbClr val="10141D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Вкладки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48840" y="4215384"/>
            <a:ext cx="3246120" cy="713232"/>
          </a:xfrm>
          <a:prstGeom prst="rect">
            <a:avLst/>
          </a:prstGeom>
          <a:solidFill>
            <a:srgbClr val="10141D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Переключить Цезарь / XOR / RSA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94960" y="4215384"/>
            <a:ext cx="3977640" cy="713232"/>
          </a:xfrm>
          <a:prstGeom prst="rect">
            <a:avLst/>
          </a:prstGeom>
          <a:solidFill>
            <a:srgbClr val="10141D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Интерфейс меняет режим без ошибок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372600" y="4215384"/>
            <a:ext cx="1965960" cy="713232"/>
          </a:xfrm>
          <a:prstGeom prst="rect">
            <a:avLst/>
          </a:prstGeom>
          <a:solidFill>
            <a:srgbClr val="0F301F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6F7D6"/>
                </a:solidFill>
              </a:rPr>
              <a:t>Пройдено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" y="4928616"/>
            <a:ext cx="1463040" cy="713232"/>
          </a:xfrm>
          <a:prstGeom prst="rect">
            <a:avLst/>
          </a:prstGeom>
          <a:solidFill>
            <a:srgbClr val="10141D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Вывод результата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148840" y="4928616"/>
            <a:ext cx="3246120" cy="713232"/>
          </a:xfrm>
          <a:prstGeom prst="rect">
            <a:avLst/>
          </a:prstGeom>
          <a:solidFill>
            <a:srgbClr val="10141D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Нажать кнопки запуска преобразований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94960" y="4928616"/>
            <a:ext cx="3977640" cy="713232"/>
          </a:xfrm>
          <a:prstGeom prst="rect">
            <a:avLst/>
          </a:prstGeom>
          <a:solidFill>
            <a:srgbClr val="10141D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Результат появляется в отдельной области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372600" y="4928616"/>
            <a:ext cx="1965960" cy="713232"/>
          </a:xfrm>
          <a:prstGeom prst="rect">
            <a:avLst/>
          </a:prstGeom>
          <a:solidFill>
            <a:srgbClr val="0F301F"/>
          </a:solidFill>
          <a:ln w="12700">
            <a:solidFill>
              <a:srgbClr val="3037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6F7D6"/>
                </a:solidFill>
              </a:rPr>
              <a:t>Пройдено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4400" y="5852160"/>
            <a:ext cx="10424160" cy="384048"/>
          </a:xfrm>
          <a:prstGeom prst="roundRect">
            <a:avLst>
              <a:gd name="adj" fmla="val 28571"/>
            </a:avLst>
          </a:prstGeom>
          <a:solidFill>
            <a:srgbClr val="123E29"/>
          </a:solidFill>
          <a:ln w="12700">
            <a:solidFill>
              <a:srgbClr val="123E29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" y="5961888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F7D6"/>
                </a:solidFill>
              </a:rPr>
              <a:t>Общий вывод: основные функции сервиса шифрования по сценарию работают корректно.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51922"/>
          </a:solidFill>
          <a:ln w="12700">
            <a:solidFill>
              <a:srgbClr val="151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4D57"/>
                </a:solidFill>
              </a:rPr>
              <a:t>Пункт 4 · тестирование сервиса шифрования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</a:rPr>
              <a:t>Заключение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5240">
            <a:solidFill>
              <a:srgbClr val="343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6476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5A3"/>
                </a:solidFill>
              </a:rPr>
              <a:t>Слайд 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43800" y="664768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5A3"/>
                </a:solidFill>
              </a:rPr>
              <a:t>Отчет тестировщика · функционал шифрования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5029200" cy="4434840"/>
          </a:xfrm>
          <a:prstGeom prst="roundRect">
            <a:avLst>
              <a:gd name="adj" fmla="val 2474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9933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A"/>
                </a:solidFill>
              </a:rPr>
              <a:t>Что было сделано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51560" y="2743200"/>
            <a:ext cx="100584" cy="100584"/>
          </a:xfrm>
          <a:prstGeom prst="ellipse">
            <a:avLst/>
          </a:prstGeom>
          <a:solidFill>
            <a:srgbClr val="FF4D57"/>
          </a:solidFill>
          <a:ln w="12700">
            <a:solidFill>
              <a:srgbClr val="FF4D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263347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5F7FA"/>
                </a:solidFill>
              </a:rPr>
              <a:t>Составлен сценарий использования приложения.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051560" y="3227832"/>
            <a:ext cx="100584" cy="100584"/>
          </a:xfrm>
          <a:prstGeom prst="ellipse">
            <a:avLst/>
          </a:prstGeom>
          <a:solidFill>
            <a:srgbClr val="B28CFF"/>
          </a:solidFill>
          <a:ln w="12700">
            <a:solidFill>
              <a:srgbClr val="B2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2728" y="311810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5F7FA"/>
                </a:solidFill>
              </a:rPr>
              <a:t>Проверены режимы Цезаря, XOR и Baby‑RSA.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51560" y="3712464"/>
            <a:ext cx="100584" cy="100584"/>
          </a:xfrm>
          <a:prstGeom prst="ellipse">
            <a:avLst/>
          </a:prstGeom>
          <a:solidFill>
            <a:srgbClr val="24D6F2"/>
          </a:solidFill>
          <a:ln w="12700">
            <a:solidFill>
              <a:srgbClr val="24D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2728" y="360273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5F7FA"/>
                </a:solidFill>
              </a:rPr>
              <a:t>Для каждого режима описаны действия и результат.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051560" y="4197096"/>
            <a:ext cx="100584" cy="10058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52728" y="408736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5F7FA"/>
                </a:solidFill>
              </a:rPr>
              <a:t>Составлен чек‑лист прохождения тестов.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051560" y="4681728"/>
            <a:ext cx="100584" cy="100584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52728" y="45720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5F7FA"/>
                </a:solidFill>
              </a:rPr>
              <a:t>Зафиксированы замечания по улучшению интерфейса и проверок ввода.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217920" y="169164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0F301F"/>
          </a:solidFill>
          <a:ln w="12700">
            <a:solidFill>
              <a:srgbClr val="0F301F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99339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F7D6"/>
                </a:solidFill>
              </a:rPr>
              <a:t>Финальный вывод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37960" y="2578608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</a:rPr>
              <a:t>Сервис быстрого шифрования проходит основной сценарий использования: пользователь выбирает алгоритм, вводит данные, запускает преобразование и получает ожидаемый результат. Критических ошибок при проверке основного функционала не обнаружено.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37960" y="464515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6F7D6"/>
                </a:solidFill>
              </a:rPr>
              <a:t>Рекомендации: добавить обработку пустого ввода, подсказки для ключей и кнопку копирования результата.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Тестирование сервиса быстрого шифрования</dc:title>
  <dc:subject>Тестирование сервиса быстрого шифрования</dc:subject>
  <dc:creator>OpenAI</dc:creator>
  <cp:lastModifiedBy>OpenAI</cp:lastModifiedBy>
  <cp:revision>1</cp:revision>
  <dcterms:created xsi:type="dcterms:W3CDTF">2026-05-06T16:22:01Z</dcterms:created>
  <dcterms:modified xsi:type="dcterms:W3CDTF">2026-05-06T16:22:01Z</dcterms:modified>
</cp:coreProperties>
</file>